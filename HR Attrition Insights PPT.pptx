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ammersmith One" charset="1" panose="02010703030501060504"/>
      <p:regular r:id="rId20"/>
    </p:embeddedFont>
    <p:embeddedFont>
      <p:font typeface="Caladea Italics" charset="1" panose="02040503050406090204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Muli Bold" charset="1" panose="00000800000000000000"/>
      <p:regular r:id="rId24"/>
    </p:embeddedFont>
    <p:embeddedFont>
      <p:font typeface="Elika Gorica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53367"/>
            <a:ext cx="18288000" cy="8982075"/>
            <a:chOff x="0" y="0"/>
            <a:chExt cx="18288000" cy="8982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8982075"/>
            </a:xfrm>
            <a:custGeom>
              <a:avLst/>
              <a:gdLst/>
              <a:ahLst/>
              <a:cxnLst/>
              <a:rect r="r" b="b" t="t" l="l"/>
              <a:pathLst>
                <a:path h="8982075" w="18288000">
                  <a:moveTo>
                    <a:pt x="0" y="0"/>
                  </a:moveTo>
                  <a:lnTo>
                    <a:pt x="0" y="8982075"/>
                  </a:lnTo>
                  <a:lnTo>
                    <a:pt x="18288000" y="89820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414B3B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952902" y="0"/>
            <a:ext cx="7335098" cy="10286324"/>
          </a:xfrm>
          <a:custGeom>
            <a:avLst/>
            <a:gdLst/>
            <a:ahLst/>
            <a:cxnLst/>
            <a:rect r="r" b="b" t="t" l="l"/>
            <a:pathLst>
              <a:path h="10286324" w="7335098">
                <a:moveTo>
                  <a:pt x="0" y="0"/>
                </a:moveTo>
                <a:lnTo>
                  <a:pt x="7335098" y="0"/>
                </a:lnTo>
                <a:lnTo>
                  <a:pt x="7335098" y="10286324"/>
                </a:lnTo>
                <a:lnTo>
                  <a:pt x="0" y="10286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87" t="0" r="-21646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63503" y="-5950448"/>
            <a:ext cx="18414997" cy="17387526"/>
            <a:chOff x="0" y="0"/>
            <a:chExt cx="18415000" cy="17387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5950458"/>
              <a:ext cx="1068705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0687050">
                  <a:moveTo>
                    <a:pt x="0" y="0"/>
                  </a:moveTo>
                  <a:lnTo>
                    <a:pt x="0" y="10287000"/>
                  </a:lnTo>
                  <a:lnTo>
                    <a:pt x="10687050" y="10287000"/>
                  </a:lnTo>
                  <a:lnTo>
                    <a:pt x="10687050" y="0"/>
                  </a:lnTo>
                  <a:close/>
                </a:path>
              </a:pathLst>
            </a:custGeom>
            <a:solidFill>
              <a:srgbClr val="2B342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64986" y="5950458"/>
              <a:ext cx="6989318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6989318">
                  <a:moveTo>
                    <a:pt x="0" y="0"/>
                  </a:moveTo>
                  <a:lnTo>
                    <a:pt x="2384171" y="10287000"/>
                  </a:lnTo>
                  <a:lnTo>
                    <a:pt x="6989318" y="10287000"/>
                  </a:lnTo>
                  <a:lnTo>
                    <a:pt x="6191250" y="6843268"/>
                  </a:lnTo>
                  <a:lnTo>
                    <a:pt x="4605147" y="0"/>
                  </a:lnTo>
                  <a:close/>
                </a:path>
              </a:pathLst>
            </a:custGeom>
            <a:solidFill>
              <a:srgbClr val="2B342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762996" y="5950458"/>
              <a:ext cx="29511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2951100">
                  <a:moveTo>
                    <a:pt x="0" y="0"/>
                  </a:moveTo>
                  <a:lnTo>
                    <a:pt x="665734" y="2872867"/>
                  </a:lnTo>
                  <a:lnTo>
                    <a:pt x="2384045" y="10287000"/>
                  </a:lnTo>
                  <a:lnTo>
                    <a:pt x="2951100" y="10287000"/>
                  </a:lnTo>
                  <a:lnTo>
                    <a:pt x="2352676" y="7705217"/>
                  </a:lnTo>
                  <a:lnTo>
                    <a:pt x="567055" y="0"/>
                  </a:lnTo>
                  <a:close/>
                </a:path>
              </a:pathLst>
            </a:custGeom>
            <a:solidFill>
              <a:srgbClr val="58635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235321" y="5950458"/>
              <a:ext cx="8132699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8132699">
                  <a:moveTo>
                    <a:pt x="0" y="0"/>
                  </a:moveTo>
                  <a:lnTo>
                    <a:pt x="0" y="10287000"/>
                  </a:lnTo>
                  <a:lnTo>
                    <a:pt x="8132699" y="10287000"/>
                  </a:lnTo>
                  <a:lnTo>
                    <a:pt x="813269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583037" y="5950458"/>
              <a:ext cx="3213353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3213353">
                  <a:moveTo>
                    <a:pt x="0" y="0"/>
                  </a:moveTo>
                  <a:lnTo>
                    <a:pt x="0" y="10287000"/>
                  </a:lnTo>
                  <a:lnTo>
                    <a:pt x="3213353" y="10287000"/>
                  </a:lnTo>
                  <a:lnTo>
                    <a:pt x="321335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5950458"/>
              <a:ext cx="10688066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0688066">
                  <a:moveTo>
                    <a:pt x="0" y="0"/>
                  </a:moveTo>
                  <a:lnTo>
                    <a:pt x="0" y="10287000"/>
                  </a:lnTo>
                  <a:lnTo>
                    <a:pt x="10688066" y="10287000"/>
                  </a:lnTo>
                  <a:lnTo>
                    <a:pt x="1068806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603873"/>
              <a:ext cx="18288000" cy="8980297"/>
            </a:xfrm>
            <a:custGeom>
              <a:avLst/>
              <a:gdLst/>
              <a:ahLst/>
              <a:cxnLst/>
              <a:rect r="r" b="b" t="t" l="l"/>
              <a:pathLst>
                <a:path h="8980297" w="18288000">
                  <a:moveTo>
                    <a:pt x="0" y="0"/>
                  </a:moveTo>
                  <a:lnTo>
                    <a:pt x="0" y="8980297"/>
                  </a:lnTo>
                  <a:lnTo>
                    <a:pt x="18288000" y="8980297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2592562"/>
            <a:ext cx="9230135" cy="445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0500" spc="1470">
                <a:solidFill>
                  <a:srgbClr val="F9FEFE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HR ATTRITION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87523" y="6848580"/>
            <a:ext cx="94050" cy="91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3300" i="true">
                <a:solidFill>
                  <a:srgbClr val="FFEBEB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201005"/>
            <a:ext cx="8898017" cy="114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300" i="true" spc="138">
                <a:solidFill>
                  <a:srgbClr val="FFEBEB"/>
                </a:solidFill>
                <a:latin typeface="Caladea Italics"/>
                <a:ea typeface="Caladea Italics"/>
                <a:cs typeface="Caladea Italics"/>
                <a:sym typeface="Caladea Italics"/>
              </a:rPr>
              <a:t>Tracking TurnoverTrends&amp;At-RiskGroupsfor Strategic Action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7554649" y="875957"/>
            <a:ext cx="2561663" cy="2468709"/>
            <a:chOff x="0" y="0"/>
            <a:chExt cx="2561666" cy="246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209" cy="2468753"/>
            </a:xfrm>
            <a:custGeom>
              <a:avLst/>
              <a:gdLst/>
              <a:ahLst/>
              <a:cxnLst/>
              <a:rect r="r" b="b" t="t" l="l"/>
              <a:pathLst>
                <a:path h="2468753" w="2561209">
                  <a:moveTo>
                    <a:pt x="0" y="0"/>
                  </a:moveTo>
                  <a:lnTo>
                    <a:pt x="0" y="2468753"/>
                  </a:lnTo>
                  <a:lnTo>
                    <a:pt x="2561209" y="2468753"/>
                  </a:lnTo>
                  <a:lnTo>
                    <a:pt x="2561209" y="0"/>
                  </a:lnTo>
                  <a:close/>
                </a:path>
              </a:pathLst>
            </a:custGeom>
            <a:solidFill>
              <a:srgbClr val="F9FEFE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554649" y="3958704"/>
            <a:ext cx="2561663" cy="2468709"/>
            <a:chOff x="0" y="0"/>
            <a:chExt cx="2561666" cy="246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1209" cy="2468753"/>
            </a:xfrm>
            <a:custGeom>
              <a:avLst/>
              <a:gdLst/>
              <a:ahLst/>
              <a:cxnLst/>
              <a:rect r="r" b="b" t="t" l="l"/>
              <a:pathLst>
                <a:path h="2468753" w="2561209">
                  <a:moveTo>
                    <a:pt x="0" y="0"/>
                  </a:moveTo>
                  <a:lnTo>
                    <a:pt x="0" y="2468753"/>
                  </a:lnTo>
                  <a:lnTo>
                    <a:pt x="2561209" y="2468753"/>
                  </a:lnTo>
                  <a:lnTo>
                    <a:pt x="2561209" y="0"/>
                  </a:lnTo>
                  <a:close/>
                </a:path>
              </a:pathLst>
            </a:custGeom>
            <a:solidFill>
              <a:srgbClr val="F9FEFE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554649" y="6942334"/>
            <a:ext cx="2561663" cy="2468709"/>
            <a:chOff x="0" y="0"/>
            <a:chExt cx="2561666" cy="24687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1209" cy="2468753"/>
            </a:xfrm>
            <a:custGeom>
              <a:avLst/>
              <a:gdLst/>
              <a:ahLst/>
              <a:cxnLst/>
              <a:rect r="r" b="b" t="t" l="l"/>
              <a:pathLst>
                <a:path h="2468753" w="2561209">
                  <a:moveTo>
                    <a:pt x="0" y="0"/>
                  </a:moveTo>
                  <a:lnTo>
                    <a:pt x="0" y="2468753"/>
                  </a:lnTo>
                  <a:lnTo>
                    <a:pt x="2561209" y="2468753"/>
                  </a:lnTo>
                  <a:lnTo>
                    <a:pt x="2561209" y="0"/>
                  </a:lnTo>
                  <a:close/>
                </a:path>
              </a:pathLst>
            </a:custGeom>
            <a:solidFill>
              <a:srgbClr val="F9FEFE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713116" y="1028700"/>
            <a:ext cx="2244319" cy="2163223"/>
          </a:xfrm>
          <a:custGeom>
            <a:avLst/>
            <a:gdLst/>
            <a:ahLst/>
            <a:cxnLst/>
            <a:rect r="r" b="b" t="t" l="l"/>
            <a:pathLst>
              <a:path h="2163223" w="2244319">
                <a:moveTo>
                  <a:pt x="0" y="0"/>
                </a:moveTo>
                <a:lnTo>
                  <a:pt x="2244319" y="0"/>
                </a:lnTo>
                <a:lnTo>
                  <a:pt x="2244319" y="2163223"/>
                </a:lnTo>
                <a:lnTo>
                  <a:pt x="0" y="2163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74" r="-151" b="-203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13116" y="4111447"/>
            <a:ext cx="2244319" cy="2163223"/>
          </a:xfrm>
          <a:custGeom>
            <a:avLst/>
            <a:gdLst/>
            <a:ahLst/>
            <a:cxnLst/>
            <a:rect r="r" b="b" t="t" l="l"/>
            <a:pathLst>
              <a:path h="2163223" w="2244319">
                <a:moveTo>
                  <a:pt x="0" y="0"/>
                </a:moveTo>
                <a:lnTo>
                  <a:pt x="2244319" y="0"/>
                </a:lnTo>
                <a:lnTo>
                  <a:pt x="2244319" y="2163223"/>
                </a:lnTo>
                <a:lnTo>
                  <a:pt x="0" y="2163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74" r="-151" b="-203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13116" y="7095077"/>
            <a:ext cx="2244319" cy="2163223"/>
          </a:xfrm>
          <a:custGeom>
            <a:avLst/>
            <a:gdLst/>
            <a:ahLst/>
            <a:cxnLst/>
            <a:rect r="r" b="b" t="t" l="l"/>
            <a:pathLst>
              <a:path h="2163223" w="2244319">
                <a:moveTo>
                  <a:pt x="0" y="0"/>
                </a:moveTo>
                <a:lnTo>
                  <a:pt x="2244319" y="0"/>
                </a:lnTo>
                <a:lnTo>
                  <a:pt x="2244319" y="2163223"/>
                </a:lnTo>
                <a:lnTo>
                  <a:pt x="0" y="2163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74" r="-151" b="-203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1897" y="4027103"/>
            <a:ext cx="5068662" cy="235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b="true" sz="8499">
                <a:solidFill>
                  <a:srgbClr val="F9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97359" y="964016"/>
            <a:ext cx="5723375" cy="21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9"/>
              </a:lnSpc>
            </a:pPr>
            <a:r>
              <a:rPr lang="en-US" sz="2490">
                <a:solidFill>
                  <a:srgbClr val="F9FEFE"/>
                </a:solidFill>
                <a:latin typeface="Canva Sans"/>
                <a:ea typeface="Canva Sans"/>
                <a:cs typeface="Canva Sans"/>
                <a:sym typeface="Canva Sans"/>
              </a:rPr>
              <a:t>Developed an HR Attrition Dashboard by integrating SQL (data extraction), Python (data cleaning &amp; preprocessing), Tableau and PowerBi (data visualization).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7359" y="4265838"/>
            <a:ext cx="5723375" cy="17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0">
                <a:solidFill>
                  <a:srgbClr val="F9FEFE"/>
                </a:solidFill>
                <a:latin typeface="Canva Sans"/>
                <a:ea typeface="Canva Sans"/>
                <a:cs typeface="Canva Sans"/>
                <a:sym typeface="Canva Sans"/>
              </a:rPr>
              <a:t>Analyzed attrition patterns across departments, roles, age groups, and salary levels, uncovering key trends and risk factors.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7359" y="7468543"/>
            <a:ext cx="5723375" cy="127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9"/>
              </a:lnSpc>
            </a:pPr>
            <a:r>
              <a:rPr lang="en-US" sz="2490">
                <a:solidFill>
                  <a:srgbClr val="F9FEFE"/>
                </a:solidFill>
                <a:latin typeface="Canva Sans"/>
                <a:ea typeface="Canva Sans"/>
                <a:cs typeface="Canva Sans"/>
                <a:sym typeface="Canva Sans"/>
              </a:rPr>
              <a:t>Delivered data-driven insights that enabled HR to design effective employee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521819">
            <a:off x="-731949" y="-542582"/>
            <a:ext cx="9423044" cy="11372164"/>
            <a:chOff x="0" y="0"/>
            <a:chExt cx="12564059" cy="15162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4110" cy="15162783"/>
            </a:xfrm>
            <a:custGeom>
              <a:avLst/>
              <a:gdLst/>
              <a:ahLst/>
              <a:cxnLst/>
              <a:rect r="r" b="b" t="t" l="l"/>
              <a:pathLst>
                <a:path h="15162783" w="12564110">
                  <a:moveTo>
                    <a:pt x="2073910" y="0"/>
                  </a:moveTo>
                  <a:lnTo>
                    <a:pt x="0" y="13558265"/>
                  </a:lnTo>
                  <a:lnTo>
                    <a:pt x="10490200" y="15162783"/>
                  </a:lnTo>
                  <a:lnTo>
                    <a:pt x="12564110" y="1604518"/>
                  </a:lnTo>
                  <a:close/>
                </a:path>
              </a:pathLst>
            </a:custGeom>
            <a:blipFill>
              <a:blip r:embed="rId2"/>
              <a:stretch>
                <a:fillRect l="-43343" t="-96386" r="-29651" b="-7482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080497" y="3703225"/>
            <a:ext cx="8511426" cy="231772"/>
            <a:chOff x="0" y="0"/>
            <a:chExt cx="8511426" cy="2317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8384413" cy="104775"/>
            </a:xfrm>
            <a:custGeom>
              <a:avLst/>
              <a:gdLst/>
              <a:ahLst/>
              <a:cxnLst/>
              <a:rect r="r" b="b" t="t" l="l"/>
              <a:pathLst>
                <a:path h="104775" w="8384413">
                  <a:moveTo>
                    <a:pt x="0" y="0"/>
                  </a:moveTo>
                  <a:lnTo>
                    <a:pt x="8384413" y="0"/>
                  </a:lnTo>
                  <a:lnTo>
                    <a:pt x="8384413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B0745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8384413" cy="104775"/>
            </a:xfrm>
            <a:custGeom>
              <a:avLst/>
              <a:gdLst/>
              <a:ahLst/>
              <a:cxnLst/>
              <a:rect r="r" b="b" t="t" l="l"/>
              <a:pathLst>
                <a:path h="104775" w="8384413">
                  <a:moveTo>
                    <a:pt x="0" y="104775"/>
                  </a:moveTo>
                  <a:lnTo>
                    <a:pt x="8384413" y="104775"/>
                  </a:lnTo>
                  <a:lnTo>
                    <a:pt x="83844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390116" y="4597546"/>
            <a:ext cx="2289572" cy="38100"/>
            <a:chOff x="0" y="0"/>
            <a:chExt cx="2289569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9556" cy="38100"/>
            </a:xfrm>
            <a:custGeom>
              <a:avLst/>
              <a:gdLst/>
              <a:ahLst/>
              <a:cxnLst/>
              <a:rect r="r" b="b" t="t" l="l"/>
              <a:pathLst>
                <a:path h="38100" w="2289556">
                  <a:moveTo>
                    <a:pt x="0" y="0"/>
                  </a:moveTo>
                  <a:lnTo>
                    <a:pt x="2289556" y="0"/>
                  </a:lnTo>
                  <a:lnTo>
                    <a:pt x="228955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DDDE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265253" y="888644"/>
            <a:ext cx="7762961" cy="262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8550" spc="1197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 &amp; TOOLS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08828" y="3801523"/>
            <a:ext cx="95260" cy="84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65253" y="4144423"/>
            <a:ext cx="5182695" cy="50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•Data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Sources: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IBM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Employee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65253" y="4855159"/>
            <a:ext cx="7318019" cy="444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Records(Kaggle) 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3000" u="sng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: Data cleaning and  preprocessing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3000" u="sng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SQL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: Data extraction 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•</a:t>
            </a:r>
            <a:r>
              <a:rPr lang="en-US" sz="3000" u="sng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Tableau &amp; PowerBi  :</a:t>
            </a:r>
            <a:r>
              <a:rPr lang="en-US" sz="3000">
                <a:solidFill>
                  <a:srgbClr val="CDDDE2"/>
                </a:solidFill>
                <a:latin typeface="Canva Sans"/>
                <a:ea typeface="Canva Sans"/>
                <a:cs typeface="Canva Sans"/>
                <a:sym typeface="Canva Sans"/>
              </a:rPr>
              <a:t> Dashboard visualisation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02380" cy="10287000"/>
          </a:xfrm>
          <a:custGeom>
            <a:avLst/>
            <a:gdLst/>
            <a:ahLst/>
            <a:cxnLst/>
            <a:rect r="r" b="b" t="t" l="l"/>
            <a:pathLst>
              <a:path h="10287000" w="18202380">
                <a:moveTo>
                  <a:pt x="0" y="0"/>
                </a:moveTo>
                <a:lnTo>
                  <a:pt x="18202380" y="0"/>
                </a:lnTo>
                <a:lnTo>
                  <a:pt x="18202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-1202" t="-37893" r="0" b="-4118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0573" y="240457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86673" y="240457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29973" y="2404577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93173" y="2404577"/>
            <a:ext cx="3098159" cy="3086100"/>
          </a:xfrm>
          <a:custGeom>
            <a:avLst/>
            <a:gdLst/>
            <a:ahLst/>
            <a:cxnLst/>
            <a:rect r="r" b="b" t="t" l="l"/>
            <a:pathLst>
              <a:path h="3086100" w="3098159">
                <a:moveTo>
                  <a:pt x="0" y="0"/>
                </a:moveTo>
                <a:lnTo>
                  <a:pt x="3098159" y="0"/>
                </a:lnTo>
                <a:lnTo>
                  <a:pt x="3098159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0252" y="2455545"/>
            <a:ext cx="3086100" cy="3086100"/>
          </a:xfrm>
          <a:custGeom>
            <a:avLst/>
            <a:gdLst/>
            <a:ahLst/>
            <a:cxnLst/>
            <a:rect r="r" b="b" t="t" l="l"/>
            <a:pathLst>
              <a:path h="3086100" w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86326" y="3354095"/>
            <a:ext cx="1516304" cy="11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4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237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8391" y="3354095"/>
            <a:ext cx="2232765" cy="11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b="true" sz="64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1,233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6260" y="3337703"/>
            <a:ext cx="2197703" cy="1110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1,470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31158" y="3462509"/>
            <a:ext cx="2476100" cy="91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b="true" sz="52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16.12%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09733" y="3479502"/>
            <a:ext cx="2455002" cy="95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5499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37 YRS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96524" y="779602"/>
            <a:ext cx="6828558" cy="126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9"/>
              </a:lnSpc>
            </a:pPr>
            <a:r>
              <a:rPr lang="en-US" b="true" sz="7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HR Metrics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728" y="5744442"/>
            <a:ext cx="2722245" cy="50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5"/>
              </a:lnSpc>
            </a:pPr>
            <a:r>
              <a:rPr lang="en-US" b="true" sz="2599">
                <a:solidFill>
                  <a:srgbClr val="CDDD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 Count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4512" y="6253867"/>
            <a:ext cx="64160" cy="4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04275" y="5701903"/>
            <a:ext cx="2503256" cy="51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b="true" sz="2599">
                <a:solidFill>
                  <a:srgbClr val="CDDD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Attrition Count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36389" y="6227197"/>
            <a:ext cx="64160" cy="4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36891" y="5654592"/>
            <a:ext cx="2929557" cy="53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b="true" sz="2599">
                <a:solidFill>
                  <a:srgbClr val="CDDD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Active Employees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6225" y="6198622"/>
            <a:ext cx="64160" cy="47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8825" y="5721267"/>
            <a:ext cx="3108198" cy="169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>
                <a:solidFill>
                  <a:srgbClr val="CDDD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Attrition Rate</a:t>
            </a:r>
          </a:p>
          <a:p>
            <a:pPr algn="ctr">
              <a:lnSpc>
                <a:spcPts val="2925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Percentage of employees who left the company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35352" y="5654592"/>
            <a:ext cx="2025501" cy="53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b="true" sz="2599">
                <a:solidFill>
                  <a:srgbClr val="CDDDE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Average 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66309" y="6198622"/>
            <a:ext cx="64160" cy="47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2612" y="6330067"/>
            <a:ext cx="3000613" cy="7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employees in the company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73192" y="6303397"/>
            <a:ext cx="3382604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Peopleleftthecompany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40101" y="6303397"/>
            <a:ext cx="3167844" cy="7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5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Employees whoarestill working in the company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39108" y="6303397"/>
            <a:ext cx="1813912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Typicalage of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14822" y="6674872"/>
            <a:ext cx="2271512" cy="7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5"/>
              </a:lnSpc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employees in the company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83524" r="-3124" b="-846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4849" y="784403"/>
            <a:ext cx="15874451" cy="3425266"/>
          </a:xfrm>
          <a:custGeom>
            <a:avLst/>
            <a:gdLst/>
            <a:ahLst/>
            <a:cxnLst/>
            <a:rect r="r" b="b" t="t" l="l"/>
            <a:pathLst>
              <a:path h="3425266" w="15874451">
                <a:moveTo>
                  <a:pt x="0" y="0"/>
                </a:moveTo>
                <a:lnTo>
                  <a:pt x="15874451" y="0"/>
                </a:lnTo>
                <a:lnTo>
                  <a:pt x="15874451" y="3425266"/>
                </a:lnTo>
                <a:lnTo>
                  <a:pt x="0" y="3425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33" r="0" b="-12671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99174" y="6543866"/>
            <a:ext cx="133350" cy="133350"/>
            <a:chOff x="0" y="0"/>
            <a:chExt cx="133350" cy="133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9174" y="7077266"/>
            <a:ext cx="133350" cy="133350"/>
            <a:chOff x="0" y="0"/>
            <a:chExt cx="133350" cy="133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84849" y="4657344"/>
            <a:ext cx="7126453" cy="88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Attrition by Age 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2549" y="6281233"/>
            <a:ext cx="8438636" cy="106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Highest attrition seen in the 25–34 age group. Lower attrition in older (45+) employees.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4849" y="7830579"/>
            <a:ext cx="14072330" cy="10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000" spc="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shows that mid-age level employees might be leaving due to career growth opportunities, workload, or salary expectations.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-10763" r="0" b="-1081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0763" y="3446945"/>
            <a:ext cx="6124575" cy="3086100"/>
          </a:xfrm>
          <a:custGeom>
            <a:avLst/>
            <a:gdLst/>
            <a:ahLst/>
            <a:cxnLst/>
            <a:rect r="r" b="b" t="t" l="l"/>
            <a:pathLst>
              <a:path h="3086100" w="6124575">
                <a:moveTo>
                  <a:pt x="0" y="0"/>
                </a:moveTo>
                <a:lnTo>
                  <a:pt x="6124575" y="0"/>
                </a:lnTo>
                <a:lnTo>
                  <a:pt x="6124575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8000"/>
            </a:blip>
            <a:stretch>
              <a:fillRect l="0" t="-19831" r="0" b="-19831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95002" y="3089272"/>
            <a:ext cx="152400" cy="152400"/>
            <a:chOff x="0" y="0"/>
            <a:chExt cx="15240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152400" y="76200"/>
                  </a:moveTo>
                  <a:cubicBezTo>
                    <a:pt x="152400" y="81153"/>
                    <a:pt x="151892" y="86106"/>
                    <a:pt x="150876" y="91059"/>
                  </a:cubicBezTo>
                  <a:cubicBezTo>
                    <a:pt x="149860" y="96012"/>
                    <a:pt x="148463" y="100711"/>
                    <a:pt x="146558" y="105410"/>
                  </a:cubicBezTo>
                  <a:cubicBezTo>
                    <a:pt x="144653" y="110109"/>
                    <a:pt x="142240" y="114427"/>
                    <a:pt x="139573" y="118618"/>
                  </a:cubicBezTo>
                  <a:cubicBezTo>
                    <a:pt x="136906" y="122809"/>
                    <a:pt x="133604" y="126619"/>
                    <a:pt x="130048" y="130175"/>
                  </a:cubicBezTo>
                  <a:cubicBezTo>
                    <a:pt x="126492" y="133731"/>
                    <a:pt x="122682" y="136906"/>
                    <a:pt x="118491" y="139700"/>
                  </a:cubicBezTo>
                  <a:cubicBezTo>
                    <a:pt x="114300" y="142494"/>
                    <a:pt x="109982" y="144780"/>
                    <a:pt x="105283" y="146685"/>
                  </a:cubicBezTo>
                  <a:cubicBezTo>
                    <a:pt x="100584" y="148590"/>
                    <a:pt x="95885" y="149987"/>
                    <a:pt x="90932" y="151003"/>
                  </a:cubicBezTo>
                  <a:cubicBezTo>
                    <a:pt x="85979" y="152019"/>
                    <a:pt x="81153" y="152400"/>
                    <a:pt x="76200" y="152400"/>
                  </a:cubicBezTo>
                  <a:cubicBezTo>
                    <a:pt x="71247" y="152400"/>
                    <a:pt x="66294" y="151892"/>
                    <a:pt x="61341" y="150876"/>
                  </a:cubicBezTo>
                  <a:cubicBezTo>
                    <a:pt x="56388" y="149860"/>
                    <a:pt x="51689" y="148463"/>
                    <a:pt x="46990" y="146558"/>
                  </a:cubicBezTo>
                  <a:cubicBezTo>
                    <a:pt x="42291" y="144653"/>
                    <a:pt x="37973" y="142240"/>
                    <a:pt x="33782" y="139573"/>
                  </a:cubicBezTo>
                  <a:cubicBezTo>
                    <a:pt x="29591" y="136906"/>
                    <a:pt x="25781" y="133604"/>
                    <a:pt x="22225" y="130048"/>
                  </a:cubicBezTo>
                  <a:cubicBezTo>
                    <a:pt x="18669" y="126492"/>
                    <a:pt x="15494" y="122682"/>
                    <a:pt x="12700" y="118491"/>
                  </a:cubicBezTo>
                  <a:cubicBezTo>
                    <a:pt x="9906" y="114300"/>
                    <a:pt x="7747" y="109982"/>
                    <a:pt x="5842" y="105410"/>
                  </a:cubicBezTo>
                  <a:cubicBezTo>
                    <a:pt x="3937" y="100838"/>
                    <a:pt x="2413" y="96012"/>
                    <a:pt x="1524" y="91059"/>
                  </a:cubicBezTo>
                  <a:cubicBezTo>
                    <a:pt x="635" y="86106"/>
                    <a:pt x="0" y="81153"/>
                    <a:pt x="0" y="76200"/>
                  </a:cubicBez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747"/>
                    <a:pt x="46990" y="5842"/>
                  </a:cubicBezTo>
                  <a:cubicBezTo>
                    <a:pt x="51562" y="3937"/>
                    <a:pt x="56388" y="2413"/>
                    <a:pt x="61341" y="1524"/>
                  </a:cubicBezTo>
                  <a:cubicBezTo>
                    <a:pt x="66294" y="635"/>
                    <a:pt x="71247" y="0"/>
                    <a:pt x="76200" y="0"/>
                  </a:cubicBezTo>
                  <a:cubicBezTo>
                    <a:pt x="81153" y="0"/>
                    <a:pt x="86106" y="508"/>
                    <a:pt x="91059" y="1524"/>
                  </a:cubicBezTo>
                  <a:cubicBezTo>
                    <a:pt x="96012" y="2540"/>
                    <a:pt x="100711" y="3937"/>
                    <a:pt x="105410" y="5842"/>
                  </a:cubicBezTo>
                  <a:cubicBezTo>
                    <a:pt x="110109" y="7747"/>
                    <a:pt x="114427" y="10160"/>
                    <a:pt x="118618" y="12827"/>
                  </a:cubicBezTo>
                  <a:cubicBezTo>
                    <a:pt x="122809" y="15494"/>
                    <a:pt x="126619" y="18796"/>
                    <a:pt x="130175" y="22352"/>
                  </a:cubicBezTo>
                  <a:cubicBezTo>
                    <a:pt x="133731" y="25908"/>
                    <a:pt x="136906" y="29718"/>
                    <a:pt x="139700" y="33909"/>
                  </a:cubicBezTo>
                  <a:cubicBezTo>
                    <a:pt x="142494" y="38100"/>
                    <a:pt x="144780" y="42418"/>
                    <a:pt x="146685" y="47117"/>
                  </a:cubicBezTo>
                  <a:cubicBezTo>
                    <a:pt x="148590" y="51816"/>
                    <a:pt x="149987" y="56515"/>
                    <a:pt x="151003" y="61468"/>
                  </a:cubicBezTo>
                  <a:cubicBezTo>
                    <a:pt x="152019" y="66421"/>
                    <a:pt x="152400" y="71247"/>
                    <a:pt x="152400" y="76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95002" y="5489572"/>
            <a:ext cx="152400" cy="152400"/>
            <a:chOff x="0" y="0"/>
            <a:chExt cx="15240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152400" y="76200"/>
                  </a:moveTo>
                  <a:cubicBezTo>
                    <a:pt x="152400" y="81153"/>
                    <a:pt x="151892" y="86106"/>
                    <a:pt x="150876" y="91059"/>
                  </a:cubicBezTo>
                  <a:cubicBezTo>
                    <a:pt x="149860" y="96012"/>
                    <a:pt x="148463" y="100711"/>
                    <a:pt x="146558" y="105410"/>
                  </a:cubicBezTo>
                  <a:cubicBezTo>
                    <a:pt x="144653" y="110109"/>
                    <a:pt x="142240" y="114427"/>
                    <a:pt x="139573" y="118618"/>
                  </a:cubicBezTo>
                  <a:cubicBezTo>
                    <a:pt x="136906" y="122809"/>
                    <a:pt x="133604" y="126619"/>
                    <a:pt x="130048" y="130175"/>
                  </a:cubicBezTo>
                  <a:cubicBezTo>
                    <a:pt x="126492" y="133731"/>
                    <a:pt x="122682" y="136906"/>
                    <a:pt x="118491" y="139700"/>
                  </a:cubicBezTo>
                  <a:cubicBezTo>
                    <a:pt x="114300" y="142494"/>
                    <a:pt x="109982" y="144780"/>
                    <a:pt x="105283" y="146685"/>
                  </a:cubicBezTo>
                  <a:cubicBezTo>
                    <a:pt x="100584" y="148590"/>
                    <a:pt x="95885" y="149987"/>
                    <a:pt x="90932" y="151003"/>
                  </a:cubicBezTo>
                  <a:cubicBezTo>
                    <a:pt x="85979" y="152019"/>
                    <a:pt x="81153" y="152400"/>
                    <a:pt x="76200" y="152400"/>
                  </a:cubicBezTo>
                  <a:cubicBezTo>
                    <a:pt x="71247" y="152400"/>
                    <a:pt x="66294" y="151892"/>
                    <a:pt x="61341" y="150876"/>
                  </a:cubicBezTo>
                  <a:cubicBezTo>
                    <a:pt x="56388" y="149860"/>
                    <a:pt x="51689" y="148463"/>
                    <a:pt x="46990" y="146558"/>
                  </a:cubicBezTo>
                  <a:cubicBezTo>
                    <a:pt x="42291" y="144653"/>
                    <a:pt x="37973" y="142240"/>
                    <a:pt x="33782" y="139573"/>
                  </a:cubicBezTo>
                  <a:cubicBezTo>
                    <a:pt x="29591" y="136906"/>
                    <a:pt x="25781" y="133604"/>
                    <a:pt x="22225" y="130048"/>
                  </a:cubicBezTo>
                  <a:cubicBezTo>
                    <a:pt x="18669" y="126492"/>
                    <a:pt x="15494" y="122682"/>
                    <a:pt x="12700" y="118491"/>
                  </a:cubicBezTo>
                  <a:cubicBezTo>
                    <a:pt x="9906" y="114300"/>
                    <a:pt x="7747" y="109982"/>
                    <a:pt x="5842" y="105410"/>
                  </a:cubicBezTo>
                  <a:cubicBezTo>
                    <a:pt x="3937" y="100838"/>
                    <a:pt x="2413" y="96012"/>
                    <a:pt x="1524" y="91059"/>
                  </a:cubicBezTo>
                  <a:cubicBezTo>
                    <a:pt x="635" y="86106"/>
                    <a:pt x="0" y="81153"/>
                    <a:pt x="0" y="76200"/>
                  </a:cubicBez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747"/>
                    <a:pt x="46990" y="5842"/>
                  </a:cubicBezTo>
                  <a:cubicBezTo>
                    <a:pt x="51562" y="3937"/>
                    <a:pt x="56388" y="2413"/>
                    <a:pt x="61341" y="1524"/>
                  </a:cubicBezTo>
                  <a:cubicBezTo>
                    <a:pt x="66294" y="635"/>
                    <a:pt x="71247" y="0"/>
                    <a:pt x="76200" y="0"/>
                  </a:cubicBezTo>
                  <a:cubicBezTo>
                    <a:pt x="81153" y="0"/>
                    <a:pt x="86106" y="508"/>
                    <a:pt x="91059" y="1524"/>
                  </a:cubicBezTo>
                  <a:cubicBezTo>
                    <a:pt x="96012" y="2540"/>
                    <a:pt x="100711" y="3937"/>
                    <a:pt x="105410" y="5842"/>
                  </a:cubicBezTo>
                  <a:cubicBezTo>
                    <a:pt x="110109" y="7747"/>
                    <a:pt x="114427" y="10160"/>
                    <a:pt x="118618" y="12827"/>
                  </a:cubicBezTo>
                  <a:cubicBezTo>
                    <a:pt x="122809" y="15494"/>
                    <a:pt x="126619" y="18796"/>
                    <a:pt x="130175" y="22352"/>
                  </a:cubicBezTo>
                  <a:cubicBezTo>
                    <a:pt x="133731" y="25908"/>
                    <a:pt x="136906" y="29718"/>
                    <a:pt x="139700" y="33909"/>
                  </a:cubicBezTo>
                  <a:cubicBezTo>
                    <a:pt x="142494" y="38100"/>
                    <a:pt x="144780" y="42418"/>
                    <a:pt x="146685" y="47117"/>
                  </a:cubicBezTo>
                  <a:cubicBezTo>
                    <a:pt x="148590" y="51816"/>
                    <a:pt x="149987" y="56515"/>
                    <a:pt x="151003" y="61468"/>
                  </a:cubicBezTo>
                  <a:cubicBezTo>
                    <a:pt x="152019" y="66421"/>
                    <a:pt x="152400" y="71247"/>
                    <a:pt x="152400" y="76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3527" y="1096099"/>
            <a:ext cx="8931021" cy="107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b="true" sz="6099" spc="60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Attrition by Gender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7543" y="2782138"/>
            <a:ext cx="8481908" cy="120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25"/>
              </a:lnSpc>
            </a:pPr>
            <a:r>
              <a:rPr lang="en-US" sz="3399" spc="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Male employees contribute to a higher 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7543" y="3382213"/>
            <a:ext cx="1856156" cy="120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attrition females.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4056" y="3382213"/>
            <a:ext cx="2507704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percentage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9344" y="3382213"/>
            <a:ext cx="2270312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compared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7543" y="5182438"/>
            <a:ext cx="8481936" cy="120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Example: Out of 237 attritions, 150 were male and 87 female.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115" y="7035906"/>
            <a:ext cx="11148521" cy="58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indicates HR may need to focus working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7402" y="7552456"/>
            <a:ext cx="14417265" cy="61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366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more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97762" y="7582738"/>
            <a:ext cx="1324223" cy="58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80617" y="7582738"/>
            <a:ext cx="3616843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male-dominated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7459" y="7582738"/>
            <a:ext cx="2364067" cy="6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conditions.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-1787" r="-1041" b="-2099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9570" y="3108179"/>
            <a:ext cx="6529730" cy="3429000"/>
          </a:xfrm>
          <a:custGeom>
            <a:avLst/>
            <a:gdLst/>
            <a:ahLst/>
            <a:cxnLst/>
            <a:rect r="r" b="b" t="t" l="l"/>
            <a:pathLst>
              <a:path h="3429000" w="6529730">
                <a:moveTo>
                  <a:pt x="0" y="0"/>
                </a:moveTo>
                <a:lnTo>
                  <a:pt x="6529730" y="0"/>
                </a:lnTo>
                <a:lnTo>
                  <a:pt x="652973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5" r="0" b="-4515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202750" y="3295450"/>
            <a:ext cx="142875" cy="142875"/>
            <a:chOff x="0" y="0"/>
            <a:chExt cx="142875" cy="1428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02750" y="4438450"/>
            <a:ext cx="142875" cy="142875"/>
            <a:chOff x="0" y="0"/>
            <a:chExt cx="142875" cy="1428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52937" y="2998451"/>
            <a:ext cx="8585425" cy="229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Highest attrition in Life Sciences and Medical fields. Lowest in Human Resources and Technical Degrees.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0325" y="5800782"/>
            <a:ext cx="9547622" cy="17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32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Employees from Life Sciences/medical fields may be leaving for better-paying opportunities in other firms.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5109" y="1015441"/>
            <a:ext cx="11384280" cy="113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Attrition by Education Field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-2151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02750" y="4438450"/>
            <a:ext cx="142875" cy="142875"/>
            <a:chOff x="0" y="0"/>
            <a:chExt cx="142875" cy="142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1154439" y="3122506"/>
            <a:ext cx="18097728" cy="50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0" indent="-1554480" lvl="1">
              <a:lnSpc>
                <a:spcPts val="20160"/>
              </a:lnSpc>
              <a:buFont typeface="Arial"/>
              <a:buChar char="•"/>
            </a:pPr>
            <a:r>
              <a:rPr lang="en-US" sz="14400">
                <a:solidFill>
                  <a:srgbClr val="FFFFFF"/>
                </a:solidFill>
                <a:latin typeface="Elika Gorica"/>
                <a:ea typeface="Elika Gorica"/>
                <a:cs typeface="Elika Gorica"/>
                <a:sym typeface="Elika Gorica"/>
              </a:rPr>
              <a:t>TABULAR Dashboard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86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4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</a:blip>
            <a:stretch>
              <a:fillRect l="0" t="0" r="0" b="-2151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02750" y="4438450"/>
            <a:ext cx="142875" cy="142875"/>
            <a:chOff x="0" y="0"/>
            <a:chExt cx="142875" cy="142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875" cy="142875"/>
            </a:xfrm>
            <a:custGeom>
              <a:avLst/>
              <a:gdLst/>
              <a:ahLst/>
              <a:cxnLst/>
              <a:rect r="r" b="b" t="t" l="l"/>
              <a:pathLst>
                <a:path h="142875" w="142875">
                  <a:moveTo>
                    <a:pt x="142875" y="71374"/>
                  </a:moveTo>
                  <a:cubicBezTo>
                    <a:pt x="142875" y="76073"/>
                    <a:pt x="142367" y="80772"/>
                    <a:pt x="141478" y="85344"/>
                  </a:cubicBezTo>
                  <a:cubicBezTo>
                    <a:pt x="140589" y="89916"/>
                    <a:pt x="139192" y="94361"/>
                    <a:pt x="137414" y="98806"/>
                  </a:cubicBezTo>
                  <a:cubicBezTo>
                    <a:pt x="135636" y="103251"/>
                    <a:pt x="133477" y="107315"/>
                    <a:pt x="130810" y="111125"/>
                  </a:cubicBezTo>
                  <a:cubicBezTo>
                    <a:pt x="128143" y="114935"/>
                    <a:pt x="125222" y="118618"/>
                    <a:pt x="121920" y="121920"/>
                  </a:cubicBezTo>
                  <a:cubicBezTo>
                    <a:pt x="118618" y="125222"/>
                    <a:pt x="114935" y="128143"/>
                    <a:pt x="111125" y="130810"/>
                  </a:cubicBezTo>
                  <a:cubicBezTo>
                    <a:pt x="107315" y="133477"/>
                    <a:pt x="103124" y="135636"/>
                    <a:pt x="98806" y="137414"/>
                  </a:cubicBezTo>
                  <a:cubicBezTo>
                    <a:pt x="94488" y="139192"/>
                    <a:pt x="90043" y="140589"/>
                    <a:pt x="85344" y="141478"/>
                  </a:cubicBezTo>
                  <a:cubicBezTo>
                    <a:pt x="80645" y="142367"/>
                    <a:pt x="76073" y="142875"/>
                    <a:pt x="71374" y="142875"/>
                  </a:cubicBezTo>
                  <a:cubicBezTo>
                    <a:pt x="66675" y="142875"/>
                    <a:pt x="61976" y="142367"/>
                    <a:pt x="57404" y="141478"/>
                  </a:cubicBezTo>
                  <a:cubicBezTo>
                    <a:pt x="52832" y="140589"/>
                    <a:pt x="48387" y="139192"/>
                    <a:pt x="43942" y="137414"/>
                  </a:cubicBezTo>
                  <a:cubicBezTo>
                    <a:pt x="39497" y="135636"/>
                    <a:pt x="35433" y="133477"/>
                    <a:pt x="31623" y="130810"/>
                  </a:cubicBezTo>
                  <a:cubicBezTo>
                    <a:pt x="27813" y="128143"/>
                    <a:pt x="24130" y="125222"/>
                    <a:pt x="20828" y="121920"/>
                  </a:cubicBezTo>
                  <a:cubicBezTo>
                    <a:pt x="17526" y="118618"/>
                    <a:pt x="14605" y="114935"/>
                    <a:pt x="11938" y="111125"/>
                  </a:cubicBezTo>
                  <a:cubicBezTo>
                    <a:pt x="9271" y="107315"/>
                    <a:pt x="7112" y="103124"/>
                    <a:pt x="5334" y="98806"/>
                  </a:cubicBezTo>
                  <a:cubicBezTo>
                    <a:pt x="3556" y="94488"/>
                    <a:pt x="2286" y="89916"/>
                    <a:pt x="1397" y="85344"/>
                  </a:cubicBezTo>
                  <a:cubicBezTo>
                    <a:pt x="508" y="80772"/>
                    <a:pt x="0" y="76073"/>
                    <a:pt x="0" y="71374"/>
                  </a:cubicBezTo>
                  <a:cubicBezTo>
                    <a:pt x="0" y="66675"/>
                    <a:pt x="508" y="61976"/>
                    <a:pt x="1397" y="57404"/>
                  </a:cubicBezTo>
                  <a:cubicBezTo>
                    <a:pt x="2286" y="52832"/>
                    <a:pt x="3683" y="48387"/>
                    <a:pt x="5461" y="43942"/>
                  </a:cubicBezTo>
                  <a:cubicBezTo>
                    <a:pt x="7239" y="39497"/>
                    <a:pt x="9398" y="35433"/>
                    <a:pt x="12065" y="31623"/>
                  </a:cubicBezTo>
                  <a:cubicBezTo>
                    <a:pt x="14732" y="27813"/>
                    <a:pt x="17653" y="24130"/>
                    <a:pt x="20955" y="20828"/>
                  </a:cubicBezTo>
                  <a:cubicBezTo>
                    <a:pt x="24257" y="17526"/>
                    <a:pt x="27940" y="14605"/>
                    <a:pt x="31750" y="11938"/>
                  </a:cubicBezTo>
                  <a:cubicBezTo>
                    <a:pt x="35560" y="9271"/>
                    <a:pt x="39751" y="7112"/>
                    <a:pt x="44069" y="5334"/>
                  </a:cubicBezTo>
                  <a:cubicBezTo>
                    <a:pt x="48387" y="3556"/>
                    <a:pt x="52959" y="2286"/>
                    <a:pt x="57531" y="1397"/>
                  </a:cubicBezTo>
                  <a:cubicBezTo>
                    <a:pt x="62103" y="508"/>
                    <a:pt x="66802" y="0"/>
                    <a:pt x="71374" y="0"/>
                  </a:cubicBezTo>
                  <a:cubicBezTo>
                    <a:pt x="75946" y="0"/>
                    <a:pt x="80772" y="508"/>
                    <a:pt x="85344" y="1397"/>
                  </a:cubicBezTo>
                  <a:cubicBezTo>
                    <a:pt x="89916" y="2286"/>
                    <a:pt x="94361" y="3683"/>
                    <a:pt x="98806" y="5461"/>
                  </a:cubicBezTo>
                  <a:cubicBezTo>
                    <a:pt x="103251" y="7239"/>
                    <a:pt x="107315" y="9398"/>
                    <a:pt x="111125" y="12065"/>
                  </a:cubicBezTo>
                  <a:cubicBezTo>
                    <a:pt x="114935" y="14732"/>
                    <a:pt x="118618" y="17653"/>
                    <a:pt x="121920" y="20955"/>
                  </a:cubicBezTo>
                  <a:cubicBezTo>
                    <a:pt x="125222" y="24257"/>
                    <a:pt x="128143" y="27940"/>
                    <a:pt x="130810" y="31750"/>
                  </a:cubicBezTo>
                  <a:cubicBezTo>
                    <a:pt x="133477" y="35560"/>
                    <a:pt x="135636" y="39751"/>
                    <a:pt x="137414" y="44069"/>
                  </a:cubicBezTo>
                  <a:cubicBezTo>
                    <a:pt x="139192" y="48387"/>
                    <a:pt x="140589" y="52832"/>
                    <a:pt x="141478" y="57531"/>
                  </a:cubicBezTo>
                  <a:cubicBezTo>
                    <a:pt x="142367" y="62230"/>
                    <a:pt x="142875" y="66802"/>
                    <a:pt x="142875" y="715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-1154439" y="3122506"/>
            <a:ext cx="18097728" cy="50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0" indent="-1554480" lvl="1">
              <a:lnSpc>
                <a:spcPts val="20160"/>
              </a:lnSpc>
              <a:buFont typeface="Arial"/>
              <a:buChar char="•"/>
            </a:pPr>
            <a:r>
              <a:rPr lang="en-US" sz="14400">
                <a:solidFill>
                  <a:srgbClr val="FFFFFF"/>
                </a:solidFill>
                <a:latin typeface="Elika Gorica"/>
                <a:ea typeface="Elika Gorica"/>
                <a:cs typeface="Elika Gorica"/>
                <a:sym typeface="Elika Gorica"/>
              </a:rPr>
              <a:t>POWER BI Dashboard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86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6622580" y="3675812"/>
            <a:ext cx="114300" cy="114300"/>
            <a:chOff x="0" y="0"/>
            <a:chExt cx="1143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622580" y="4609262"/>
            <a:ext cx="114300" cy="114300"/>
            <a:chOff x="0" y="0"/>
            <a:chExt cx="1143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622580" y="5542712"/>
            <a:ext cx="114300" cy="114300"/>
            <a:chOff x="0" y="0"/>
            <a:chExt cx="1143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622580" y="6476162"/>
            <a:ext cx="114300" cy="114300"/>
            <a:chOff x="0" y="0"/>
            <a:chExt cx="114300" cy="11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622580" y="6942887"/>
            <a:ext cx="114300" cy="114300"/>
            <a:chOff x="0" y="0"/>
            <a:chExt cx="114300" cy="11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622580" y="7876337"/>
            <a:ext cx="114300" cy="114300"/>
            <a:chOff x="0" y="0"/>
            <a:chExt cx="114300" cy="114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622580" y="8809787"/>
            <a:ext cx="114300" cy="114300"/>
            <a:chOff x="0" y="0"/>
            <a:chExt cx="114300" cy="114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1877"/>
                    <a:pt x="109982" y="35433"/>
                  </a:cubicBezTo>
                  <a:cubicBezTo>
                    <a:pt x="111506" y="38989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0" y="0"/>
            <a:ext cx="6346355" cy="10287000"/>
            <a:chOff x="0" y="0"/>
            <a:chExt cx="8461807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6175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461756">
                  <a:moveTo>
                    <a:pt x="0" y="0"/>
                  </a:moveTo>
                  <a:lnTo>
                    <a:pt x="0" y="13716000"/>
                  </a:lnTo>
                  <a:lnTo>
                    <a:pt x="4671441" y="13716000"/>
                  </a:lnTo>
                  <a:lnTo>
                    <a:pt x="8461756" y="7151497"/>
                  </a:lnTo>
                  <a:lnTo>
                    <a:pt x="4332605" y="0"/>
                  </a:lnTo>
                  <a:close/>
                </a:path>
              </a:pathLst>
            </a:custGeom>
            <a:blipFill>
              <a:blip r:embed="rId2"/>
              <a:stretch>
                <a:fillRect l="-98388" t="0" r="-72461" b="-438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21579" y="3439449"/>
            <a:ext cx="10659904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career growth programs, mentorship, and promotion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21579" y="3906174"/>
            <a:ext cx="1682629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pathways.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21579" y="4372899"/>
            <a:ext cx="10606049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Introduce flexible work options, fair workload, and performance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21579" y="4839624"/>
            <a:ext cx="1420959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rewards.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21579" y="5306349"/>
            <a:ext cx="9165203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Adopt hybrid work models, flexible hours, and wellness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21579" y="5773074"/>
            <a:ext cx="1713347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initiatives.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21579" y="6239799"/>
            <a:ext cx="10874416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Conduct regular salary reviews and provide competitive benefits.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21579" y="6706524"/>
            <a:ext cx="9824809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Launch employee surveys, recognition schemes, and team-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21579" y="7173249"/>
            <a:ext cx="1440866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 spc="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21579" y="7639974"/>
            <a:ext cx="9735064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Offer retention bonuses, training sponsorships, and career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21579" y="8106699"/>
            <a:ext cx="1535887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 spc="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planning.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21579" y="8573424"/>
            <a:ext cx="10247805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Track attrition monthly with dashboards and adjust strategies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21579" y="9040149"/>
            <a:ext cx="1952073" cy="46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6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proactively.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41579" y="306896"/>
            <a:ext cx="6896738" cy="287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9"/>
              </a:lnSpc>
            </a:pPr>
            <a:r>
              <a:rPr lang="en-US" b="true" sz="9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Actionable Insights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976971" y="5833129"/>
            <a:ext cx="6896738" cy="28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49"/>
              </a:lnSpc>
            </a:pPr>
            <a:r>
              <a:rPr lang="en-US" b="true" sz="9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Actionable Insights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86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9064" y="3319186"/>
            <a:ext cx="9313850" cy="2966571"/>
          </a:xfrm>
          <a:custGeom>
            <a:avLst/>
            <a:gdLst/>
            <a:ahLst/>
            <a:cxnLst/>
            <a:rect r="r" b="b" t="t" l="l"/>
            <a:pathLst>
              <a:path h="2966571" w="9313850">
                <a:moveTo>
                  <a:pt x="0" y="0"/>
                </a:moveTo>
                <a:lnTo>
                  <a:pt x="9313850" y="0"/>
                </a:lnTo>
                <a:lnTo>
                  <a:pt x="9313850" y="2966571"/>
                </a:lnTo>
                <a:lnTo>
                  <a:pt x="0" y="2966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DAGxdHNKexM</dc:identifier>
  <dcterms:modified xsi:type="dcterms:W3CDTF">2011-08-01T06:04:30Z</dcterms:modified>
  <cp:revision>1</cp:revision>
  <dc:title>HR Attrition Insights Analysis.pdf</dc:title>
</cp:coreProperties>
</file>